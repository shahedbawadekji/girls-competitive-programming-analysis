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3"/>
  </p:notesMasterIdLst>
  <p:sldIdLst>
    <p:sldId id="256" r:id="rId2"/>
    <p:sldId id="266" r:id="rId3"/>
    <p:sldId id="267" r:id="rId4"/>
    <p:sldId id="273" r:id="rId5"/>
    <p:sldId id="275" r:id="rId6"/>
    <p:sldId id="268" r:id="rId7"/>
    <p:sldId id="274" r:id="rId8"/>
    <p:sldId id="269" r:id="rId9"/>
    <p:sldId id="270" r:id="rId10"/>
    <p:sldId id="271" r:id="rId11"/>
    <p:sldId id="272" r:id="rId12"/>
  </p:sldIdLst>
  <p:sldSz cx="9144000" cy="5143500" type="screen16x9"/>
  <p:notesSz cx="6858000" cy="9144000"/>
  <p:embeddedFontLst>
    <p:embeddedFont>
      <p:font typeface="Zen Kaku Gothic New" panose="020B0604020202020204" charset="-128"/>
      <p:regular r:id="rId14"/>
      <p:bold r:id="rId15"/>
    </p:embeddedFon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ExtraBold" panose="00000900000000000000" pitchFamily="2" charset="0"/>
      <p:bold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  <p:embeddedFont>
      <p:font typeface="Vazirmatn Black" panose="020B0604020202020204" charset="-78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B4D0BD-4B47-4189-8307-4B4189AF9AB5}">
  <a:tblStyle styleId="{8FB4D0BD-4B47-4189-8307-4B4189AF9A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979FCD24-EE6C-F344-FE92-8D15936E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CD34E125-D526-3533-C8D8-4D1FCF7E8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B6C1A643-D67C-1DBB-2EEF-20DEACE3A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09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2A01E1F0-5568-020A-EEA5-47F4F35B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72003E98-4778-BEA5-4482-E71977CD8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E014A6C5-5E14-6A10-8463-F6A5ACFDC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31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DA39D786-C434-1466-E2F9-E3EBF180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E695194F-227C-FEBC-74AE-B1A243D51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AA20F15D-448B-A349-28E8-783005458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94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B771CECC-1F01-3491-B28D-6B03E6C1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D5425A08-95EF-73AF-BCE5-6CD6FDDBE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3C44A9A3-C3B5-195C-9FAD-5CED84292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07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05B44832-D0FA-A5B0-6D2A-36797540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67759B6E-EFE0-F51B-20E9-8645D297F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B768ED34-F38C-4E1B-7B1A-FD7F55866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398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806A7C66-D25E-2B58-B0C3-6C92CCEE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3F19CECC-5388-E3E3-1A09-F2553779D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467F9F12-A4D6-0BA8-3350-8C310B038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483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B8C59BA3-7028-5235-A5BA-ED7A8E32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E0AA53F1-6D48-D06D-D920-21F36BC1A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41916ABA-EAB8-D87C-6729-9337A4381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271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F39E06B0-A6A9-5711-3E07-9D3C38F1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514B7FE6-DA57-97C9-DFFF-ABE369390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05822257-F82A-69B1-1898-AC9466DBB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9013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B73FE186-60F4-318B-CD0A-899B6407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224c8d5b8b_0_250:notes">
            <a:extLst>
              <a:ext uri="{FF2B5EF4-FFF2-40B4-BE49-F238E27FC236}">
                <a16:creationId xmlns:a16="http://schemas.microsoft.com/office/drawing/2014/main" id="{5431A07D-7D64-43BE-F690-CBA7718F8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224c8d5b8b_0_250:notes">
            <a:extLst>
              <a:ext uri="{FF2B5EF4-FFF2-40B4-BE49-F238E27FC236}">
                <a16:creationId xmlns:a16="http://schemas.microsoft.com/office/drawing/2014/main" id="{68B955D3-2817-08D2-77DD-9566E539A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97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75025" y="1594776"/>
            <a:ext cx="4000800" cy="16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23871" y="3450537"/>
            <a:ext cx="35994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dk2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1039591" y="2478024"/>
            <a:ext cx="18993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2"/>
          </p:nvPr>
        </p:nvSpPr>
        <p:spPr>
          <a:xfrm>
            <a:off x="1038788" y="2055575"/>
            <a:ext cx="19008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>
            <a:off x="3625344" y="2478024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4"/>
          </p:nvPr>
        </p:nvSpPr>
        <p:spPr>
          <a:xfrm>
            <a:off x="3620400" y="2055575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>
            <a:off x="6203962" y="2478024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6"/>
          </p:nvPr>
        </p:nvSpPr>
        <p:spPr>
          <a:xfrm>
            <a:off x="6203212" y="2055575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>
            <a:off x="1055641" y="4170431"/>
            <a:ext cx="18993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8"/>
          </p:nvPr>
        </p:nvSpPr>
        <p:spPr>
          <a:xfrm>
            <a:off x="1054838" y="3749040"/>
            <a:ext cx="19008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9"/>
          </p:nvPr>
        </p:nvSpPr>
        <p:spPr>
          <a:xfrm>
            <a:off x="3625344" y="4170431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3"/>
          </p:nvPr>
        </p:nvSpPr>
        <p:spPr>
          <a:xfrm>
            <a:off x="3624540" y="3749040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4"/>
          </p:nvPr>
        </p:nvSpPr>
        <p:spPr>
          <a:xfrm>
            <a:off x="6203962" y="4170431"/>
            <a:ext cx="1900500" cy="4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5"/>
          </p:nvPr>
        </p:nvSpPr>
        <p:spPr>
          <a:xfrm>
            <a:off x="6203212" y="3749040"/>
            <a:ext cx="1902000" cy="34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Barlow"/>
              <a:buNone/>
              <a:defRPr sz="2100" b="1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accent2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247800" y="247800"/>
            <a:ext cx="8648400" cy="4647900"/>
          </a:xfrm>
          <a:prstGeom prst="roundRect">
            <a:avLst>
              <a:gd name="adj" fmla="val 3379"/>
            </a:avLst>
          </a:prstGeom>
          <a:solidFill>
            <a:schemeClr val="lt1"/>
          </a:solidFill>
          <a:ln>
            <a:noFill/>
          </a:ln>
          <a:effectLst>
            <a:outerShdw blurRad="57150" dist="133350" dir="8220000" algn="bl" rotWithShape="0">
              <a:srgbClr val="515B7A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Vazirmatn Black"/>
              <a:buNone/>
              <a:defRPr sz="2800">
                <a:solidFill>
                  <a:schemeClr val="accent2"/>
                </a:solidFill>
                <a:latin typeface="Vazirmatn Black"/>
                <a:ea typeface="Vazirmatn Black"/>
                <a:cs typeface="Vazirmatn Black"/>
                <a:sym typeface="Vazirmatn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ssion One"/>
              <a:buNone/>
              <a:defRPr sz="2800" b="1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●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○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■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●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○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■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●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○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Zen Kaku Gothic New"/>
              <a:buChar char="■"/>
              <a:defRPr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3" r:id="rId3"/>
    <p:sldLayoutId id="2147483673" r:id="rId4"/>
    <p:sldLayoutId id="214748367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/>
          <p:nvPr/>
        </p:nvSpPr>
        <p:spPr>
          <a:xfrm>
            <a:off x="948906" y="3884042"/>
            <a:ext cx="2053104" cy="296697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2" name="Google Shape;272;p32"/>
          <p:cNvSpPr txBox="1">
            <a:spLocks noGrp="1"/>
          </p:cNvSpPr>
          <p:nvPr>
            <p:ph type="ctrTitle"/>
          </p:nvPr>
        </p:nvSpPr>
        <p:spPr>
          <a:xfrm>
            <a:off x="675025" y="1259457"/>
            <a:ext cx="4000800" cy="195501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/>
              <a:t>Barriers to Persistence in Competitive Programming Training Among Female Students: Why Many Start, But Few Continue</a:t>
            </a:r>
            <a:endParaRPr sz="1600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3" name="Google Shape;273;p32"/>
          <p:cNvSpPr txBox="1">
            <a:spLocks noGrp="1"/>
          </p:cNvSpPr>
          <p:nvPr>
            <p:ph type="subTitle" idx="1"/>
          </p:nvPr>
        </p:nvSpPr>
        <p:spPr>
          <a:xfrm>
            <a:off x="1076425" y="3884043"/>
            <a:ext cx="35994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>
                    <a:lumMod val="75000"/>
                  </a:schemeClr>
                </a:solidFill>
              </a:rPr>
              <a:t>Shahed Bawadekji</a:t>
            </a:r>
            <a:endParaRPr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F52C3-94D6-E94A-9FBC-77D5B4C4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23" y="1051042"/>
            <a:ext cx="2666195" cy="2666195"/>
          </a:xfrm>
          <a:prstGeom prst="rect">
            <a:avLst/>
          </a:prstGeom>
        </p:spPr>
      </p:pic>
      <p:sp>
        <p:nvSpPr>
          <p:cNvPr id="4" name="Google Shape;756;p42">
            <a:extLst>
              <a:ext uri="{FF2B5EF4-FFF2-40B4-BE49-F238E27FC236}">
                <a16:creationId xmlns:a16="http://schemas.microsoft.com/office/drawing/2014/main" id="{B8F8975E-F92D-B51B-71CA-23C6362A5714}"/>
              </a:ext>
            </a:extLst>
          </p:cNvPr>
          <p:cNvSpPr/>
          <p:nvPr/>
        </p:nvSpPr>
        <p:spPr>
          <a:xfrm>
            <a:off x="675025" y="3527397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53;p42">
            <a:extLst>
              <a:ext uri="{FF2B5EF4-FFF2-40B4-BE49-F238E27FC236}">
                <a16:creationId xmlns:a16="http://schemas.microsoft.com/office/drawing/2014/main" id="{264074DB-1222-7F81-4466-C36FAA403AB8}"/>
              </a:ext>
            </a:extLst>
          </p:cNvPr>
          <p:cNvSpPr/>
          <p:nvPr/>
        </p:nvSpPr>
        <p:spPr>
          <a:xfrm>
            <a:off x="556847" y="74970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53;p42">
            <a:extLst>
              <a:ext uri="{FF2B5EF4-FFF2-40B4-BE49-F238E27FC236}">
                <a16:creationId xmlns:a16="http://schemas.microsoft.com/office/drawing/2014/main" id="{A0DE9EF8-6DD5-C9A6-4D7D-28438FA9BD60}"/>
              </a:ext>
            </a:extLst>
          </p:cNvPr>
          <p:cNvSpPr/>
          <p:nvPr/>
        </p:nvSpPr>
        <p:spPr>
          <a:xfrm>
            <a:off x="457979" y="3214476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57;p42">
            <a:extLst>
              <a:ext uri="{FF2B5EF4-FFF2-40B4-BE49-F238E27FC236}">
                <a16:creationId xmlns:a16="http://schemas.microsoft.com/office/drawing/2014/main" id="{5604BFB8-E61E-AEF1-C75E-BF0A48D13491}"/>
              </a:ext>
            </a:extLst>
          </p:cNvPr>
          <p:cNvSpPr/>
          <p:nvPr/>
        </p:nvSpPr>
        <p:spPr>
          <a:xfrm>
            <a:off x="858306" y="69612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57;p42">
            <a:extLst>
              <a:ext uri="{FF2B5EF4-FFF2-40B4-BE49-F238E27FC236}">
                <a16:creationId xmlns:a16="http://schemas.microsoft.com/office/drawing/2014/main" id="{AA2A229F-9548-9C22-7FD3-29044AAA35A1}"/>
              </a:ext>
            </a:extLst>
          </p:cNvPr>
          <p:cNvSpPr/>
          <p:nvPr/>
        </p:nvSpPr>
        <p:spPr>
          <a:xfrm>
            <a:off x="948906" y="3420234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56;p42">
            <a:extLst>
              <a:ext uri="{FF2B5EF4-FFF2-40B4-BE49-F238E27FC236}">
                <a16:creationId xmlns:a16="http://schemas.microsoft.com/office/drawing/2014/main" id="{BDDF266D-8762-BB93-37D3-930349DF8FCD}"/>
              </a:ext>
            </a:extLst>
          </p:cNvPr>
          <p:cNvSpPr/>
          <p:nvPr/>
        </p:nvSpPr>
        <p:spPr>
          <a:xfrm>
            <a:off x="948906" y="890314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/>
          <p:cNvSpPr txBox="1">
            <a:spLocks noGrp="1"/>
          </p:cNvSpPr>
          <p:nvPr>
            <p:ph type="title"/>
          </p:nvPr>
        </p:nvSpPr>
        <p:spPr>
          <a:xfrm>
            <a:off x="533271" y="376858"/>
            <a:ext cx="8110528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Distribution of Girls Across Rating Levels</a:t>
            </a:r>
            <a:endParaRPr sz="2800" dirty="0"/>
          </a:p>
        </p:txBody>
      </p:sp>
      <p:sp>
        <p:nvSpPr>
          <p:cNvPr id="747" name="Google Shape;747;p42"/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/>
          <p:cNvSpPr/>
          <p:nvPr/>
        </p:nvSpPr>
        <p:spPr>
          <a:xfrm>
            <a:off x="7977768" y="421330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/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/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/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/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/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/>
          <p:cNvSpPr/>
          <p:nvPr/>
        </p:nvSpPr>
        <p:spPr>
          <a:xfrm>
            <a:off x="1251966" y="414245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/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/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/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E64A40-681F-278F-987D-5323DAE021C5}"/>
              </a:ext>
            </a:extLst>
          </p:cNvPr>
          <p:cNvSpPr txBox="1"/>
          <p:nvPr/>
        </p:nvSpPr>
        <p:spPr>
          <a:xfrm>
            <a:off x="1722665" y="4291126"/>
            <a:ext cx="6415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analysis shows that most girls fall into the </a:t>
            </a:r>
            <a:r>
              <a:rPr lang="en-US" b="1" dirty="0"/>
              <a:t>Unrated and Newbie categories</a:t>
            </a:r>
            <a:r>
              <a:rPr lang="en-US" dirty="0"/>
              <a:t>, while fewer students reach </a:t>
            </a:r>
            <a:r>
              <a:rPr lang="en-US" b="1" dirty="0"/>
              <a:t>Pupil, Specialist, or Expert levels</a:t>
            </a:r>
            <a:r>
              <a:rPr lang="en-US" dirty="0"/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3DBC81-2344-A02F-D5B5-82C089FF4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1027226"/>
            <a:ext cx="467360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0B3B5F50-656C-F6E2-E94A-2AFD9240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EEAA3AA1-A46B-0645-E3B7-E8B3A4578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71" y="376858"/>
            <a:ext cx="8110528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b="1" dirty="0"/>
              <a:t>Distribution Across Academic Year</a:t>
            </a:r>
            <a:endParaRPr sz="24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7C21F60E-E38E-1B23-62BA-41DA92E196BA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4447805A-61E2-2734-F72D-F6EE04B33DAA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3095916C-7B96-7BF6-EC28-E43BD9CAA094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6E3D280B-085D-0A3A-969D-AE9CF86C88CD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3A53F778-3744-E55A-0E25-8558944C249E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AC5F1ED9-BADF-B27D-BD73-9027A66B5480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7E2FF7D2-CCE1-9930-86CC-DE79EA10F0BD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8CD105FC-B874-EF7A-8481-7B01A4883BD2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1DA21C8A-5580-7B72-9DB3-A886A3CCBF2E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1ED56475-C82B-B924-F956-367F8E1D1341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9B02967D-709D-11CA-9753-A811FF62BB7F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974739-8774-7F13-12EF-0A0BC5D34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226" y="1025679"/>
            <a:ext cx="4011584" cy="3092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4EAC7D-1FE7-2D77-2180-D972EA0840BA}"/>
              </a:ext>
            </a:extLst>
          </p:cNvPr>
          <p:cNvSpPr txBox="1"/>
          <p:nvPr/>
        </p:nvSpPr>
        <p:spPr>
          <a:xfrm>
            <a:off x="1956018" y="4218517"/>
            <a:ext cx="58015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shows that most participants are from </a:t>
            </a:r>
            <a:r>
              <a:rPr lang="en-US" b="1" dirty="0"/>
              <a:t>early academic years</a:t>
            </a:r>
            <a:r>
              <a:rPr lang="en-US" dirty="0"/>
              <a:t>, while fewer girls are in advanced years.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5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423B0D9F-338A-A24D-EA05-BA71BBD7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5381CA7F-90F5-7864-6F76-70BCA91DD2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21" y="344877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University &amp; Rating Comparison:</a:t>
            </a:r>
            <a:endParaRPr sz="8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D04EBA0B-B6CD-6351-81C3-5C64CE7CD900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FFB4A9E5-D7E6-108B-6A28-BD9148EEB3E9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8D3D9919-BE46-C961-8BAA-5AF8EA60BAC9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177F5D33-117D-8C27-99AE-68F5B7D33C88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49FDFB0B-76DA-E239-89E1-4E7CC413C126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7141065F-8B4E-49A9-C92E-127460138E88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B01A828C-3C6C-83FE-AB9B-428556FE35A3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D448B029-B455-A8FA-DD1B-E85C31987896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B215E9A0-67F5-6F87-AD20-4FCDEEB7DDEE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D70E3F74-7575-9476-1EA5-B20A90298F92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12D9ADED-CA5B-8CC0-5400-BC9401E99557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391CE-F0A6-D8ED-DA2B-9FD0F3EB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383" y="993149"/>
            <a:ext cx="4971249" cy="364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2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BD3FEE3B-B2FB-71FD-EB9E-D8095D29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72FDB568-D351-DCF3-A06E-F490BF0B5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133" y="404319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Average Max Rate by Previous Competition</a:t>
            </a:r>
            <a:endParaRPr sz="6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13DE50EF-71F5-F072-B4E2-88141B809797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659F1CFA-3B10-8006-E122-F0BBCD52A294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635A4CA5-F454-F245-61A4-518F1F929FF7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193F1B75-926B-B0C5-E6C4-6844A1FE5A85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F8696694-16A9-CEA9-2796-3EAEC17FA979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7360D66D-0CB8-E13E-4A9D-1C47CE01DF59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97F2349F-F10C-FAEF-7179-0DC400EC8C1D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57BA8808-BE93-E348-F42D-94E252DD0212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EE307518-34C6-BC40-A1B3-D48743A8145B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B45E2108-AFAA-D363-455F-99F5DE34634D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48AC32F3-D170-7230-E78B-1FBF0619C923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F71D9-0F93-CB54-30E6-CB1A713F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831" y="1002863"/>
            <a:ext cx="4130875" cy="388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6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12886335-9DE7-ADCE-6BB9-F13AE9C2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E5D7E636-9377-B0CE-2FD3-478C6A2ED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910" y="672899"/>
            <a:ext cx="8215597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400" b="1" dirty="0"/>
              <a:t>Relationship Between Solved Problems and Max Rate</a:t>
            </a:r>
            <a:endParaRPr sz="16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2107A635-309E-822C-15B6-D9F4833C8F71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250E5166-01BC-72C6-EB95-75B5ED0CE662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5155D424-00DC-C44E-0D20-A7EC2E6CBC7D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D2E97685-C3CD-6D97-4D83-C403D9CBE548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BE65ECE7-A0BC-48D4-1AD4-8191D1772418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28568B65-9B97-91AC-8267-3567A85C7E96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8D526D6A-0050-0C7E-138E-07C96F4D3F0C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A56C7F1D-5996-63EE-6F2F-DFA2FCD85F89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63F38FB1-C6EF-725B-523A-2E39ABDAC1B8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9BF3EF6D-F5B1-A92B-FCBE-4EA20E09E82A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73F419BE-F078-4233-65CE-6E9CD912FD06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DC876-8DBD-E202-CD20-793CE0F02048}"/>
              </a:ext>
            </a:extLst>
          </p:cNvPr>
          <p:cNvSpPr txBox="1"/>
          <p:nvPr/>
        </p:nvSpPr>
        <p:spPr>
          <a:xfrm>
            <a:off x="1440611" y="3938296"/>
            <a:ext cx="6671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scatter plot shows a </a:t>
            </a:r>
            <a:r>
              <a:rPr lang="en-US" b="1" dirty="0"/>
              <a:t>positive relationship between the number of solved problems and maximum rating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Students who solve more problems tend to achieve higher </a:t>
            </a:r>
            <a:r>
              <a:rPr lang="en-US" dirty="0" err="1"/>
              <a:t>Codeforces</a:t>
            </a:r>
            <a:r>
              <a:rPr lang="en-US" dirty="0"/>
              <a:t> ratings.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840AC-35AD-0745-5098-DDC69F4B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284" y="1282233"/>
            <a:ext cx="3813431" cy="25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3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E9779F3B-7E30-6EE6-137F-2AB6D602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9BB6DD16-A73B-1DFC-C9EC-FC459DC21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21" y="344877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b="1" dirty="0"/>
              <a:t>Correlation Analysis</a:t>
            </a:r>
            <a:endParaRPr sz="7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8CBF7078-09D9-9622-F981-29C6584844F2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5CB5E3A1-6F21-4338-EE58-D74EC6E7A163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A5C11DE9-BD7B-F9BC-9930-720713F8DA8C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E1A30A49-9FB1-074C-DEED-EA6C0A5F4A4F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78CBF518-EDCF-D9E7-D3C2-46259F4A3755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4CF91319-4BDF-2A98-63E3-83C16E363315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AB5C6AA1-65E8-4708-CF7A-2172EA5A2744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54113853-8396-0B40-782C-E11326CEBF71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D8A9BEB2-32A0-A363-57CD-F9F701FBC907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41FD534D-7224-D193-AA6B-0CBA51F7A11C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8B1B20F5-DA67-7613-E524-AD9FE81BA7F8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9D9CA-DB80-2791-05BB-09B901C8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208" y="1196615"/>
            <a:ext cx="4686300" cy="2940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5D67D-5384-8833-34D4-2BF7DEB9835D}"/>
              </a:ext>
            </a:extLst>
          </p:cNvPr>
          <p:cNvSpPr txBox="1"/>
          <p:nvPr/>
        </p:nvSpPr>
        <p:spPr>
          <a:xfrm>
            <a:off x="882198" y="1341540"/>
            <a:ext cx="32458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 moderate positive relationship</a:t>
            </a:r>
            <a:r>
              <a:rPr lang="en-US" sz="1600" dirty="0"/>
              <a:t> was observed between the time spent trying before asking for help and the highest rating on </a:t>
            </a:r>
            <a:r>
              <a:rPr lang="en-US" sz="1600" dirty="0" err="1"/>
              <a:t>Codeforces</a:t>
            </a:r>
            <a:r>
              <a:rPr lang="en-US" sz="1600" dirty="0"/>
              <a:t>. For reasons, this relationship may be affected by several confounding factors, including lack of participation in </a:t>
            </a:r>
            <a:r>
              <a:rPr lang="en-US" sz="1600" dirty="0" err="1"/>
              <a:t>Codeforces</a:t>
            </a:r>
            <a:r>
              <a:rPr lang="en-US" sz="1600" dirty="0"/>
              <a:t> contests, irregular training schedules, and others.</a:t>
            </a:r>
          </a:p>
        </p:txBody>
      </p:sp>
    </p:spTree>
    <p:extLst>
      <p:ext uri="{BB962C8B-B14F-4D97-AF65-F5344CB8AC3E}">
        <p14:creationId xmlns:p14="http://schemas.microsoft.com/office/powerpoint/2010/main" val="172354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03C748E7-BA33-3985-6AB5-E9BCB6A0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8E8A44F7-A903-0035-8BDA-3FD00E0E6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202" y="353900"/>
            <a:ext cx="8215597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800" b="1" dirty="0"/>
              <a:t>Topic Strength Analysis</a:t>
            </a:r>
            <a:endParaRPr sz="12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4A6AB7E8-5E3B-0316-1AE2-4785C5D19C38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D8D29BEF-2007-A3EC-D242-D8CB5FFE1242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62BE1386-F40A-3BD3-C858-C3D33C74EE41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12D9E022-7E30-6287-3461-1B184B76CF7A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BEA27F12-A449-ACA5-F1C9-AA7D2C17509E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3B071BA5-B8A3-9075-B9B9-994AB009B554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CF180B27-8474-41B0-E8FF-A71BF0AB9492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F4EC4B2C-4241-9C17-C2B7-613E6EE53530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C631B5C0-65C3-73D6-E76F-6979A5A3CBE1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C392253C-17D5-090F-DD90-D9801F9684B3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92338B67-05DF-0BDF-1646-65F93E241CDB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7F1F7-6851-EA6F-E50A-85D06F0C4076}"/>
              </a:ext>
            </a:extLst>
          </p:cNvPr>
          <p:cNvSpPr txBox="1"/>
          <p:nvPr/>
        </p:nvSpPr>
        <p:spPr>
          <a:xfrm>
            <a:off x="839165" y="4101269"/>
            <a:ext cx="7918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Students performed best in </a:t>
            </a:r>
            <a:r>
              <a:rPr lang="en-US" b="1" dirty="0"/>
              <a:t>Strings</a:t>
            </a:r>
            <a:r>
              <a:rPr lang="en-US" dirty="0"/>
              <a:t> and </a:t>
            </a:r>
            <a:r>
              <a:rPr lang="en-US" b="1" dirty="0"/>
              <a:t>Binary Search</a:t>
            </a:r>
            <a:r>
              <a:rPr lang="en-US" dirty="0"/>
              <a:t> topics.</a:t>
            </a:r>
          </a:p>
          <a:p>
            <a:r>
              <a:rPr lang="en-US" b="1" dirty="0"/>
              <a:t>Bitmasks</a:t>
            </a:r>
            <a:r>
              <a:rPr lang="en-US" dirty="0"/>
              <a:t> showed slightly lower average scores, suggesting this area may require more focus.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68544-8295-69A4-DD2B-393BCE36D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69" y="1045890"/>
            <a:ext cx="4928661" cy="29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7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4A2F7840-7CA4-2733-C522-1D695AC3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4A672CE4-A1E3-6CB7-9E33-36F3002F7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321" y="344877"/>
            <a:ext cx="8329306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400" b="1" dirty="0"/>
              <a:t>Reasons for Not Benefiting from Training Camps</a:t>
            </a:r>
            <a:endParaRPr sz="10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CCABC825-16D4-D581-A55E-F9394D3BCFF2}"/>
              </a:ext>
            </a:extLst>
          </p:cNvPr>
          <p:cNvSpPr/>
          <p:nvPr/>
        </p:nvSpPr>
        <p:spPr>
          <a:xfrm>
            <a:off x="8553199" y="1341540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FAC19BA7-1BE9-DDBB-0E90-A62B35EF3BE7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B652BF68-1DCB-D2A1-FF0D-053A035089A9}"/>
              </a:ext>
            </a:extLst>
          </p:cNvPr>
          <p:cNvSpPr/>
          <p:nvPr/>
        </p:nvSpPr>
        <p:spPr>
          <a:xfrm>
            <a:off x="8559773" y="441537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A843EA52-6FB7-7615-7B74-2EABCE38C243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8A280070-8C68-1CBC-8957-B72585B5DB63}"/>
              </a:ext>
            </a:extLst>
          </p:cNvPr>
          <p:cNvSpPr/>
          <p:nvPr/>
        </p:nvSpPr>
        <p:spPr>
          <a:xfrm>
            <a:off x="8607526" y="1962210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0B1B4905-ED09-39D8-5F4D-6A09A8555AAB}"/>
              </a:ext>
            </a:extLst>
          </p:cNvPr>
          <p:cNvSpPr/>
          <p:nvPr/>
        </p:nvSpPr>
        <p:spPr>
          <a:xfrm>
            <a:off x="8448438" y="234578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50449316-EE2A-11C5-366A-3C54A948E031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DBF01F7D-81CE-C322-397C-47C34D4A2202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F96C5521-70D3-8DA6-8EC8-13B49187CDE6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EA7AE11E-404D-50F9-219B-D8C4A741E952}"/>
              </a:ext>
            </a:extLst>
          </p:cNvPr>
          <p:cNvSpPr/>
          <p:nvPr/>
        </p:nvSpPr>
        <p:spPr>
          <a:xfrm>
            <a:off x="723083" y="3032682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67D8FBF5-8FAC-C4E1-84F6-0F0B84E190DB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24354-6302-B02D-9552-65D4A2C9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535" y="929480"/>
            <a:ext cx="5617580" cy="39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6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EEE6A8A8-74A5-6CC7-2C9B-A97BFF29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6389157A-0C9F-4352-C113-B58A56766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9370" y="2176882"/>
            <a:ext cx="3508620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b="1" dirty="0"/>
              <a:t>Reasons Hindering Training</a:t>
            </a:r>
            <a:endParaRPr sz="10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1F44C733-FC7E-F8E9-2744-D90F7349ABE0}"/>
              </a:ext>
            </a:extLst>
          </p:cNvPr>
          <p:cNvSpPr/>
          <p:nvPr/>
        </p:nvSpPr>
        <p:spPr>
          <a:xfrm>
            <a:off x="1198263" y="3140704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6EAF090A-CDA1-EA88-0511-1A70575D50C2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692FB5AC-1813-61A0-6740-42A45D5E57DE}"/>
              </a:ext>
            </a:extLst>
          </p:cNvPr>
          <p:cNvSpPr/>
          <p:nvPr/>
        </p:nvSpPr>
        <p:spPr>
          <a:xfrm>
            <a:off x="359149" y="3032682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8C96703E-9960-D24F-D196-10E45BCE4A0A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36132C34-5912-0FA1-D6B7-189407D463B8}"/>
              </a:ext>
            </a:extLst>
          </p:cNvPr>
          <p:cNvSpPr/>
          <p:nvPr/>
        </p:nvSpPr>
        <p:spPr>
          <a:xfrm>
            <a:off x="967699" y="685501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97B090D9-B2EA-7118-2B4F-B7BB738FC64D}"/>
              </a:ext>
            </a:extLst>
          </p:cNvPr>
          <p:cNvSpPr/>
          <p:nvPr/>
        </p:nvSpPr>
        <p:spPr>
          <a:xfrm>
            <a:off x="1038347" y="350481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1336A64F-3D04-F609-C33A-7D10D8F48397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E15FF633-1F6D-A00E-7E7E-7C1E88C5BEE5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F9F08F62-E612-AEF1-5144-59B48FCE22A5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6AAB8CFE-3CD3-0D02-DA9A-994EFE8B144A}"/>
              </a:ext>
            </a:extLst>
          </p:cNvPr>
          <p:cNvSpPr/>
          <p:nvPr/>
        </p:nvSpPr>
        <p:spPr>
          <a:xfrm>
            <a:off x="724268" y="2800865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D8EF06EB-AA00-6850-B0DD-415FD466B9C0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A3A85-00A1-C2D1-FE38-AE741883B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476" y="308398"/>
            <a:ext cx="4588833" cy="456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3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9F489490-D8AF-3B54-9BD7-82B22E56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>
            <a:extLst>
              <a:ext uri="{FF2B5EF4-FFF2-40B4-BE49-F238E27FC236}">
                <a16:creationId xmlns:a16="http://schemas.microsoft.com/office/drawing/2014/main" id="{F4BD7894-B6F8-5D18-6E49-F6E8622D0A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149" y="2318363"/>
            <a:ext cx="3508620" cy="5481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200" b="1" dirty="0"/>
              <a:t>Suggestions to Improve Training</a:t>
            </a:r>
            <a:endParaRPr sz="900" dirty="0"/>
          </a:p>
        </p:txBody>
      </p:sp>
      <p:sp>
        <p:nvSpPr>
          <p:cNvPr id="747" name="Google Shape;747;p42">
            <a:extLst>
              <a:ext uri="{FF2B5EF4-FFF2-40B4-BE49-F238E27FC236}">
                <a16:creationId xmlns:a16="http://schemas.microsoft.com/office/drawing/2014/main" id="{91EAD58C-8FD6-E378-9FBE-315CE34BBBCE}"/>
              </a:ext>
            </a:extLst>
          </p:cNvPr>
          <p:cNvSpPr/>
          <p:nvPr/>
        </p:nvSpPr>
        <p:spPr>
          <a:xfrm>
            <a:off x="1198263" y="3140704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4" y="1285"/>
                </a:lnTo>
                <a:lnTo>
                  <a:pt x="0" y="1970"/>
                </a:lnTo>
                <a:lnTo>
                  <a:pt x="1084" y="2597"/>
                </a:lnTo>
                <a:lnTo>
                  <a:pt x="1655" y="3881"/>
                </a:lnTo>
                <a:lnTo>
                  <a:pt x="2254" y="2597"/>
                </a:lnTo>
                <a:lnTo>
                  <a:pt x="3281" y="1970"/>
                </a:lnTo>
                <a:lnTo>
                  <a:pt x="2254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2">
            <a:extLst>
              <a:ext uri="{FF2B5EF4-FFF2-40B4-BE49-F238E27FC236}">
                <a16:creationId xmlns:a16="http://schemas.microsoft.com/office/drawing/2014/main" id="{3C0AD7A6-6C14-DD78-8719-E77E057E0837}"/>
              </a:ext>
            </a:extLst>
          </p:cNvPr>
          <p:cNvSpPr/>
          <p:nvPr/>
        </p:nvSpPr>
        <p:spPr>
          <a:xfrm>
            <a:off x="7951704" y="361194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6"/>
                </a:lnTo>
                <a:lnTo>
                  <a:pt x="3938" y="4594"/>
                </a:lnTo>
                <a:lnTo>
                  <a:pt x="5792" y="3424"/>
                </a:lnTo>
                <a:lnTo>
                  <a:pt x="3938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>
            <a:extLst>
              <a:ext uri="{FF2B5EF4-FFF2-40B4-BE49-F238E27FC236}">
                <a16:creationId xmlns:a16="http://schemas.microsoft.com/office/drawing/2014/main" id="{C7B4BC1A-D566-FB68-6261-E97BE0909275}"/>
              </a:ext>
            </a:extLst>
          </p:cNvPr>
          <p:cNvSpPr/>
          <p:nvPr/>
        </p:nvSpPr>
        <p:spPr>
          <a:xfrm>
            <a:off x="359149" y="3032682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96" y="1"/>
                </a:moveTo>
                <a:lnTo>
                  <a:pt x="2312" y="2854"/>
                </a:lnTo>
                <a:lnTo>
                  <a:pt x="1" y="4252"/>
                </a:lnTo>
                <a:lnTo>
                  <a:pt x="2312" y="5679"/>
                </a:lnTo>
                <a:lnTo>
                  <a:pt x="3596" y="8532"/>
                </a:lnTo>
                <a:lnTo>
                  <a:pt x="4851" y="5679"/>
                </a:lnTo>
                <a:lnTo>
                  <a:pt x="7162" y="4252"/>
                </a:lnTo>
                <a:lnTo>
                  <a:pt x="4851" y="2854"/>
                </a:lnTo>
                <a:lnTo>
                  <a:pt x="35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2">
            <a:extLst>
              <a:ext uri="{FF2B5EF4-FFF2-40B4-BE49-F238E27FC236}">
                <a16:creationId xmlns:a16="http://schemas.microsoft.com/office/drawing/2014/main" id="{B35E0C7F-8636-31A7-4714-47746C4F932D}"/>
              </a:ext>
            </a:extLst>
          </p:cNvPr>
          <p:cNvSpPr/>
          <p:nvPr/>
        </p:nvSpPr>
        <p:spPr>
          <a:xfrm>
            <a:off x="8225528" y="1630619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283" y="2853"/>
                </a:lnTo>
                <a:lnTo>
                  <a:pt x="1" y="4280"/>
                </a:lnTo>
                <a:lnTo>
                  <a:pt x="2283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2" y="4280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2">
            <a:extLst>
              <a:ext uri="{FF2B5EF4-FFF2-40B4-BE49-F238E27FC236}">
                <a16:creationId xmlns:a16="http://schemas.microsoft.com/office/drawing/2014/main" id="{1B496B4D-580A-0311-55EE-CA9CABC96834}"/>
              </a:ext>
            </a:extLst>
          </p:cNvPr>
          <p:cNvSpPr/>
          <p:nvPr/>
        </p:nvSpPr>
        <p:spPr>
          <a:xfrm>
            <a:off x="967699" y="685501"/>
            <a:ext cx="89827" cy="107135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656" y="0"/>
                </a:moveTo>
                <a:lnTo>
                  <a:pt x="1028" y="1313"/>
                </a:lnTo>
                <a:lnTo>
                  <a:pt x="1" y="1940"/>
                </a:lnTo>
                <a:lnTo>
                  <a:pt x="1028" y="2597"/>
                </a:lnTo>
                <a:lnTo>
                  <a:pt x="1656" y="3881"/>
                </a:lnTo>
                <a:lnTo>
                  <a:pt x="2226" y="2597"/>
                </a:lnTo>
                <a:lnTo>
                  <a:pt x="3253" y="1940"/>
                </a:lnTo>
                <a:lnTo>
                  <a:pt x="2226" y="1313"/>
                </a:lnTo>
                <a:lnTo>
                  <a:pt x="16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2">
            <a:extLst>
              <a:ext uri="{FF2B5EF4-FFF2-40B4-BE49-F238E27FC236}">
                <a16:creationId xmlns:a16="http://schemas.microsoft.com/office/drawing/2014/main" id="{0DA533B6-E2D6-9F2E-6925-E7C85805277E}"/>
              </a:ext>
            </a:extLst>
          </p:cNvPr>
          <p:cNvSpPr/>
          <p:nvPr/>
        </p:nvSpPr>
        <p:spPr>
          <a:xfrm>
            <a:off x="1038347" y="3504812"/>
            <a:ext cx="159916" cy="189840"/>
          </a:xfrm>
          <a:custGeom>
            <a:avLst/>
            <a:gdLst/>
            <a:ahLst/>
            <a:cxnLst/>
            <a:rect l="l" t="t" r="r" b="b"/>
            <a:pathLst>
              <a:path w="5793" h="6877" extrusionOk="0">
                <a:moveTo>
                  <a:pt x="2911" y="0"/>
                </a:moveTo>
                <a:lnTo>
                  <a:pt x="1883" y="2283"/>
                </a:lnTo>
                <a:lnTo>
                  <a:pt x="0" y="3424"/>
                </a:lnTo>
                <a:lnTo>
                  <a:pt x="1883" y="4566"/>
                </a:lnTo>
                <a:lnTo>
                  <a:pt x="2911" y="6877"/>
                </a:lnTo>
                <a:lnTo>
                  <a:pt x="3938" y="4566"/>
                </a:lnTo>
                <a:lnTo>
                  <a:pt x="5792" y="3424"/>
                </a:lnTo>
                <a:lnTo>
                  <a:pt x="3938" y="2283"/>
                </a:lnTo>
                <a:lnTo>
                  <a:pt x="29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>
            <a:extLst>
              <a:ext uri="{FF2B5EF4-FFF2-40B4-BE49-F238E27FC236}">
                <a16:creationId xmlns:a16="http://schemas.microsoft.com/office/drawing/2014/main" id="{6ED4517D-510A-9D63-648D-CBF8F8E27E41}"/>
              </a:ext>
            </a:extLst>
          </p:cNvPr>
          <p:cNvSpPr/>
          <p:nvPr/>
        </p:nvSpPr>
        <p:spPr>
          <a:xfrm>
            <a:off x="535989" y="308398"/>
            <a:ext cx="197735" cy="235526"/>
          </a:xfrm>
          <a:custGeom>
            <a:avLst/>
            <a:gdLst/>
            <a:ahLst/>
            <a:cxnLst/>
            <a:rect l="l" t="t" r="r" b="b"/>
            <a:pathLst>
              <a:path w="7163" h="8532" extrusionOk="0">
                <a:moveTo>
                  <a:pt x="3567" y="0"/>
                </a:moveTo>
                <a:lnTo>
                  <a:pt x="2312" y="2853"/>
                </a:lnTo>
                <a:lnTo>
                  <a:pt x="1" y="4251"/>
                </a:lnTo>
                <a:lnTo>
                  <a:pt x="2312" y="5678"/>
                </a:lnTo>
                <a:lnTo>
                  <a:pt x="3567" y="8531"/>
                </a:lnTo>
                <a:lnTo>
                  <a:pt x="4851" y="5678"/>
                </a:lnTo>
                <a:lnTo>
                  <a:pt x="7163" y="4251"/>
                </a:lnTo>
                <a:lnTo>
                  <a:pt x="4851" y="2853"/>
                </a:lnTo>
                <a:lnTo>
                  <a:pt x="3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2">
            <a:extLst>
              <a:ext uri="{FF2B5EF4-FFF2-40B4-BE49-F238E27FC236}">
                <a16:creationId xmlns:a16="http://schemas.microsoft.com/office/drawing/2014/main" id="{1C993CCB-53EF-D3A8-430C-E2AF745C1B8D}"/>
              </a:ext>
            </a:extLst>
          </p:cNvPr>
          <p:cNvSpPr/>
          <p:nvPr/>
        </p:nvSpPr>
        <p:spPr>
          <a:xfrm>
            <a:off x="1293963" y="353900"/>
            <a:ext cx="82336" cy="144522"/>
          </a:xfrm>
          <a:custGeom>
            <a:avLst/>
            <a:gdLst/>
            <a:ahLst/>
            <a:cxnLst/>
            <a:rect l="l" t="t" r="r" b="b"/>
            <a:pathLst>
              <a:path w="3254" h="3881" extrusionOk="0">
                <a:moveTo>
                  <a:pt x="1598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8"/>
                </a:lnTo>
                <a:lnTo>
                  <a:pt x="1598" y="3881"/>
                </a:lnTo>
                <a:lnTo>
                  <a:pt x="2197" y="2568"/>
                </a:lnTo>
                <a:lnTo>
                  <a:pt x="3253" y="1912"/>
                </a:lnTo>
                <a:lnTo>
                  <a:pt x="2197" y="1285"/>
                </a:lnTo>
                <a:lnTo>
                  <a:pt x="15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2">
            <a:extLst>
              <a:ext uri="{FF2B5EF4-FFF2-40B4-BE49-F238E27FC236}">
                <a16:creationId xmlns:a16="http://schemas.microsoft.com/office/drawing/2014/main" id="{84BF045F-5DEB-EA38-602E-BEA152BBE551}"/>
              </a:ext>
            </a:extLst>
          </p:cNvPr>
          <p:cNvSpPr/>
          <p:nvPr/>
        </p:nvSpPr>
        <p:spPr>
          <a:xfrm>
            <a:off x="713226" y="993149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28" y="1285"/>
                </a:lnTo>
                <a:lnTo>
                  <a:pt x="0" y="1912"/>
                </a:lnTo>
                <a:lnTo>
                  <a:pt x="1028" y="2569"/>
                </a:lnTo>
                <a:lnTo>
                  <a:pt x="1655" y="3881"/>
                </a:lnTo>
                <a:lnTo>
                  <a:pt x="2226" y="2569"/>
                </a:lnTo>
                <a:lnTo>
                  <a:pt x="3282" y="1912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2">
            <a:extLst>
              <a:ext uri="{FF2B5EF4-FFF2-40B4-BE49-F238E27FC236}">
                <a16:creationId xmlns:a16="http://schemas.microsoft.com/office/drawing/2014/main" id="{7F402D47-9A0F-2AAC-46D3-F1CED74F4F14}"/>
              </a:ext>
            </a:extLst>
          </p:cNvPr>
          <p:cNvSpPr/>
          <p:nvPr/>
        </p:nvSpPr>
        <p:spPr>
          <a:xfrm>
            <a:off x="724268" y="2800865"/>
            <a:ext cx="159115" cy="189840"/>
          </a:xfrm>
          <a:custGeom>
            <a:avLst/>
            <a:gdLst/>
            <a:ahLst/>
            <a:cxnLst/>
            <a:rect l="l" t="t" r="r" b="b"/>
            <a:pathLst>
              <a:path w="5764" h="6877" extrusionOk="0">
                <a:moveTo>
                  <a:pt x="2882" y="0"/>
                </a:moveTo>
                <a:lnTo>
                  <a:pt x="1855" y="2283"/>
                </a:lnTo>
                <a:lnTo>
                  <a:pt x="0" y="3424"/>
                </a:lnTo>
                <a:lnTo>
                  <a:pt x="1855" y="4594"/>
                </a:lnTo>
                <a:lnTo>
                  <a:pt x="2882" y="6877"/>
                </a:lnTo>
                <a:lnTo>
                  <a:pt x="3909" y="4594"/>
                </a:lnTo>
                <a:lnTo>
                  <a:pt x="5764" y="3424"/>
                </a:lnTo>
                <a:lnTo>
                  <a:pt x="3909" y="2283"/>
                </a:lnTo>
                <a:lnTo>
                  <a:pt x="2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2">
            <a:extLst>
              <a:ext uri="{FF2B5EF4-FFF2-40B4-BE49-F238E27FC236}">
                <a16:creationId xmlns:a16="http://schemas.microsoft.com/office/drawing/2014/main" id="{F7AB95FD-896B-874F-5E09-002BE9D04A4D}"/>
              </a:ext>
            </a:extLst>
          </p:cNvPr>
          <p:cNvSpPr/>
          <p:nvPr/>
        </p:nvSpPr>
        <p:spPr>
          <a:xfrm>
            <a:off x="634857" y="3407586"/>
            <a:ext cx="90600" cy="107163"/>
          </a:xfrm>
          <a:custGeom>
            <a:avLst/>
            <a:gdLst/>
            <a:ahLst/>
            <a:cxnLst/>
            <a:rect l="l" t="t" r="r" b="b"/>
            <a:pathLst>
              <a:path w="3282" h="3882" extrusionOk="0">
                <a:moveTo>
                  <a:pt x="1655" y="1"/>
                </a:moveTo>
                <a:lnTo>
                  <a:pt x="1085" y="1285"/>
                </a:lnTo>
                <a:lnTo>
                  <a:pt x="1" y="1941"/>
                </a:lnTo>
                <a:lnTo>
                  <a:pt x="1085" y="2597"/>
                </a:lnTo>
                <a:lnTo>
                  <a:pt x="1655" y="3881"/>
                </a:lnTo>
                <a:lnTo>
                  <a:pt x="2226" y="2597"/>
                </a:lnTo>
                <a:lnTo>
                  <a:pt x="3282" y="1941"/>
                </a:lnTo>
                <a:lnTo>
                  <a:pt x="2226" y="1285"/>
                </a:lnTo>
                <a:lnTo>
                  <a:pt x="165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2AAED-3A35-0E3F-D80A-8E563EEF1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983" y="276047"/>
            <a:ext cx="5002868" cy="459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88172"/>
      </p:ext>
    </p:extLst>
  </p:cSld>
  <p:clrMapOvr>
    <a:masterClrMapping/>
  </p:clrMapOvr>
</p:sld>
</file>

<file path=ppt/theme/theme1.xml><?xml version="1.0" encoding="utf-8"?>
<a:theme xmlns:a="http://schemas.openxmlformats.org/drawingml/2006/main" name="Federal Law Enforcement Training Center by Slidesgo">
  <a:themeElements>
    <a:clrScheme name="Simple Light">
      <a:dk1>
        <a:srgbClr val="0C0B44"/>
      </a:dk1>
      <a:lt1>
        <a:srgbClr val="FFFFFF"/>
      </a:lt1>
      <a:dk2>
        <a:srgbClr val="FFF7FC"/>
      </a:dk2>
      <a:lt2>
        <a:srgbClr val="E4EDF0"/>
      </a:lt2>
      <a:accent1>
        <a:srgbClr val="C3D2EA"/>
      </a:accent1>
      <a:accent2>
        <a:srgbClr val="72073F"/>
      </a:accent2>
      <a:accent3>
        <a:srgbClr val="4D448D"/>
      </a:accent3>
      <a:accent4>
        <a:srgbClr val="EBB0CF"/>
      </a:accent4>
      <a:accent5>
        <a:srgbClr val="779ED4"/>
      </a:accent5>
      <a:accent6>
        <a:srgbClr val="00226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</Words>
  <Application>Microsoft Office PowerPoint</Application>
  <PresentationFormat>On-screen Show (16:9)</PresentationFormat>
  <Paragraphs>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Barlow</vt:lpstr>
      <vt:lpstr>Poppins Medium</vt:lpstr>
      <vt:lpstr>Vazirmatn Black</vt:lpstr>
      <vt:lpstr>Poppins ExtraBold</vt:lpstr>
      <vt:lpstr>Poppins</vt:lpstr>
      <vt:lpstr>Arial</vt:lpstr>
      <vt:lpstr>Zen Kaku Gothic New</vt:lpstr>
      <vt:lpstr>Federal Law Enforcement Training Center by Slidesgo</vt:lpstr>
      <vt:lpstr>Barriers to Persistence in Competitive Programming Training Among Female Students: Why Many Start, But Few Continue</vt:lpstr>
      <vt:lpstr>Distribution of Girls Across Rating Levels</vt:lpstr>
      <vt:lpstr>Distribution Across Academic Year</vt:lpstr>
      <vt:lpstr>University &amp; Rating Comparison:</vt:lpstr>
      <vt:lpstr>Average Max Rate by Previous Competition</vt:lpstr>
      <vt:lpstr>Relationship Between Solved Problems and Max Rate</vt:lpstr>
      <vt:lpstr>Correlation Analysis</vt:lpstr>
      <vt:lpstr>Topic Strength Analysis</vt:lpstr>
      <vt:lpstr>Reasons for Not Benefiting from Training Camps</vt:lpstr>
      <vt:lpstr>Reasons Hindering Training</vt:lpstr>
      <vt:lpstr>Suggestions to Improve 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shahed</dc:creator>
  <cp:lastModifiedBy>shahed</cp:lastModifiedBy>
  <cp:revision>3</cp:revision>
  <dcterms:modified xsi:type="dcterms:W3CDTF">2026-04-02T19:28:32Z</dcterms:modified>
</cp:coreProperties>
</file>